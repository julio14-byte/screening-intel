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DD6FE"/>
                </a:solidFill>
                <a:latin typeface="Inter"/>
              </a:rPr>
              <a:t>INCUBADORA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Inter"/>
              </a:rPr>
              <a:t>Crisvia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DDD6FE"/>
                </a:solidFill>
                <a:latin typeface="Inter"/>
              </a:rPr>
              <a:t>Inteligencia de screening
para el clinical research site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2011680" cy="548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2E8F0"/>
                </a:solidFill>
                <a:latin typeface="Inter"/>
              </a:rPr>
              <a:t>El paciente ya llegó al centro.
Crisvia lo lleva al protocolo correcto y lo recupera si el primero no entra.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D6FE"/>
                </a:solidFill>
                <a:latin typeface="Inter"/>
              </a:rPr>
              <a:t>Demo en vivo al cierre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El cuello de botella está en el site, antes de randomizar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566160" cy="402336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9476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01  ·  A mano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404872"/>
            <a:ext cx="3108960" cy="3063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coordinador cruza PDF, Excel y WhatsApp para decidir si alguien entra a un protocolo.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91640"/>
            <a:ext cx="3566160" cy="402336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9476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02  ·  Se pierde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404872"/>
            <a:ext cx="3108960" cy="3063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Un screen failure suele cerrar el caso. El mismo paciente podía caber en otro protocolo abierto del centro.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3566160" cy="402336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19476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03  ·  Sin rastro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2404872"/>
            <a:ext cx="3108960" cy="3063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patrocinador ya tiene su EDC y su diario. El site no tiene un lugar donde quede la decisión, con fuente y con fecha.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A QUIÉN LE DUELE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Quien opera el estudio en el centro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3566160" cy="33832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Coordinador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67712"/>
            <a:ext cx="3108960" cy="2423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Arma el pre-screening a mano y persigue al candidato por teléfono.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66160" cy="33832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Investigador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67712"/>
            <a:ext cx="3108960" cy="2423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Firma la elegibilidad y necesita saber de qué documento salió cada criterio.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554480"/>
            <a:ext cx="3566160" cy="33832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Director del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2267712"/>
            <a:ext cx="3108960" cy="2423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Ve el enrolamiento tarde, cuando la ventana del protocolo ya se cerró.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34155"/>
                </a:solidFill>
                <a:latin typeface="Inter"/>
              </a:rPr>
              <a:t>El pagador es el clinical research site en México y LATAM. El patrocinador sigue dueño de Veeva, Clinical Ink y del IRT.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DD6FE"/>
                </a:solidFill>
                <a:latin typeface="Inter"/>
              </a:rPr>
              <a:t>LA 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nter"/>
              </a:rPr>
              <a:t>Aprovechar a quien
ya llegó.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2E8F0"/>
                </a:solidFill>
                <a:latin typeface="Inter"/>
              </a:rPr>
              <a:t>Cada paciente del centro es una oportunidad de investigación.
Expediente, cruce por reglas, revisión con evidencia y recuperación tras el fallo.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DD6FE"/>
                </a:solidFill>
                <a:latin typeface="Inter"/>
              </a:rPr>
              <a:t>Trial de 14 días. El primer cruce corre el mismo día, con los pacientes que el centro ya tiene.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QUÉ OPERA CRISVIA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Del candidato a la visita, en seis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8105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Llega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Portal del centro, Excel o alta manual.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55448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5564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Cruza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Motor de reglas. Semáforo por criterio.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55448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75564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18105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Revisa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El equipo confirma cada criterio contra una fuente.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9476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9592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050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Sigue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1772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Kanban hasta randomizado o screen failure.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79476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9592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050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Recupera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Re-Match propone otro protocolo abierto.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379476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99592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4050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Visita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61772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Calendario del site y revisión del diario del patrocinador.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La elegibilidad la decide el investigador. La IA explica; no mueve el semáforo.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1  ·  LLEGA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Portal, inbox y expediente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/candidato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67712"/>
            <a:ext cx="310896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paciente se pre-registra con el link del centro.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/candidatos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67712"/>
            <a:ext cx="310896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coordinador convierte o archiva. Cada intento de contacto queda en bitácora. A las 48 h sin respuesta, el caso se marca.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/patients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2267712"/>
            <a:ext cx="310896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Alta manual o pegar Excel. Perfil clínico: diagnósticos, medicamentos, laboratorios. El día 1 no hace falta integrar el hospital.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2  ·  CRUZA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Protocolo contra expediente, criterio por criterio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10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/protocols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67712"/>
            <a:ext cx="4937760" cy="3337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Inclusión y exclusión. Los criterios se pueden extraer de un PDF del protocolo.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5532120" cy="4297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8105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/protocols/…/match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2512" y="2377440"/>
            <a:ext cx="146304" cy="6400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3774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Verde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8833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El expediente cumple.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2512" y="3383280"/>
            <a:ext cx="146304" cy="6400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338328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Amarillo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69417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Falta un dato.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4389120"/>
            <a:ext cx="146304" cy="6400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3891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Rojo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70001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No cumple.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Score y detalle por criterio. La justificación en español describe ese resultado.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3  ·  REVISA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Evidencia antes de que el investigador decida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/protocols/…/revision/…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221991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Fuente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74320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Tipo de documento, referencia, fecha del dato y valor leído.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965960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2221991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Decisión firme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74320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Sin fuente no se guarda. El revisor y su rol los fija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23367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Medicamentos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754879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Vigentes, lavado del protocolo y los que nadie verifica hace más de 30 días.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3977639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423367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Bitácora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754879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De solo agregar. Una corrección es un registro nuevo.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4  ·  SIGUE Y RECUPERA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El screen failure es una fuga, no el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11155680" cy="102412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/tracker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813816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Pre-screening, screening, randomizado, screen failure. Randomizado se marca cuando el IRT del patrocinador ya asignó.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06040"/>
            <a:ext cx="11155680" cy="102412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70632"/>
            <a:ext cx="813816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Embudo del site y meta de enrolamiento: al día, en riesgo o atrasada.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11155680" cy="102412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13631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/rematch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913631"/>
            <a:ext cx="813816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Si falló un estudio, lista protocolos activos donde ese paciente no está excluido.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11155680" cy="102412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056631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/bitacora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056631"/>
            <a:ext cx="813816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La bitácora de screening se exporta.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5  ·  LA VISITA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El diario sigue en Veeva o en Clinical 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En la visita ya realizada, el coordinador anota lo que vio con el paciente. Crisvia guarda la revisión del site.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Sistema y referencia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92608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Veeva, Clinical Ink, otro diario o papel, con sujeto, periodo o folio.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219456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Cumplimiento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92608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Periodo, días esperados y completados, dosis omitidas.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052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Hallazgos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89204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Posible evento adverso y medicación nueva, cada uno con descripción.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416052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Señales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89204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Bajo 80 %, dosis omitidas, evento que la visita no registró, o medicación nueva.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CONFIANZA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Cada centro ve solo lo suyo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109728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Roles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Investigador, sub-investigador, coordinador. El monitor lee.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60320"/>
            <a:ext cx="109728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60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Acceso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26079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MFA para el equipo clínico y sesión con vencimiento.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57600"/>
            <a:ext cx="109728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Rastro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Bitácora de cambios de lo que el centro registra.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54879"/>
            <a:ext cx="109728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54879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Aislamiento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20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Cada organización ve solo sus datos, en Postgres.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La certificación del diario y del EDC sigue en el sistema del patrocinador.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SaaS por site, en dólares, sin implementación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6D28D9"/>
                </a:solidFill>
                <a:latin typeface="Inter"/>
              </a:rPr>
              <a:t>$0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14 días para probar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Hasta 50 pacientes, 3 protocolos, 1 usuario.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2860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$149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9FE"/>
                </a:solidFill>
                <a:latin typeface="Inter"/>
              </a:rPr>
              <a:t>al mes, o $1,490 al año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49039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DE9FE"/>
                </a:solidFill>
                <a:latin typeface="Inter"/>
              </a:rPr>
              <a:t>500 pacientes, 3 usuarios, Re-Match y portal.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155448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Pro+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2860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6D28D9"/>
                </a:solidFill>
                <a:latin typeface="Inter"/>
              </a:rPr>
              <a:t>$329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al mes, o $3,290 al año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749039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2,000 pacientes, 10 usuarios, roles, MFA y bitácora.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03504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Precio por sitio. El año cobra 10 meses. Se cancela la renovación cuando el centro quiere.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LO QUE YA ESTÁ CONSTRUIDO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Producto operable. Tracción por demostrar.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1051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Se puede recorrer hoy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67712"/>
            <a:ext cx="507492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Portal, expediente, matcher, revisión con evidencia, tracker, Re-Match, visitas y revisión de diario en Veeva o Clinical Ink.
La base aísla centros y roles. Hay pruebas de ese aislamiento sobre Postgres.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810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Abierto con esta sala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267712"/>
            <a:ext cx="493776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Los primeros sites de diseño, el ciclo de venta al centro y el número de pacientes cruzados en producción.
Esas cifras se dicen cuando existan.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EL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México ya corre estudios. El software del site va atrás.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Estudios documentados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1E1B4B"/>
                </a:solidFill>
                <a:latin typeface="Inter"/>
              </a:rPr>
              <a:t>~5,000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en México, abril de 2024.
Más de 5,200 registrados hacia febrero de 2025, incluidos estudios ya cerrados.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288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El hueco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468880"/>
            <a:ext cx="4846320" cy="2560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patrocinador estandarizó EDC y diario.
El coordinador del site sigue en hojas de cálculo.
Crisvia entra ahí: un centro, muchos protocolos, los pacientes que ya atiende.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94360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Fuentes: UNAM / CIC, 2025; Statista, febrero 2025.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PEDIDO A LA INCUBADORA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Tres cosas, en este orden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11155680" cy="138988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D28D9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0992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1B4B"/>
                </a:solidFill>
                <a:latin typeface="Inter"/>
              </a:rPr>
              <a:t>Tres sites piloto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671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En México, para correr el trial de 14 días con un protocolo real y medir screen failures recuperados.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39"/>
            <a:ext cx="11155680" cy="138988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899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D28D9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644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1B4B"/>
                </a:solidFill>
                <a:latin typeface="Inter"/>
              </a:rPr>
              <a:t>Mentoría 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21607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Para venderle al director del site, no al patrocinador.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7720"/>
            <a:ext cx="11155680" cy="138988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D28D9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8188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1B4B"/>
                </a:solidFill>
                <a:latin typeface="Inter"/>
              </a:rPr>
              <a:t>Lectura regulatoria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27608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De una persona que ya operó un centro: qué documento exige el monitor y cuál se queda en Veeva.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FUNCIONAMIENTO  ·  4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Recorrido en vivo, con la app abierta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3716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/dashboard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7160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Embudo y si la meta de enrolamiento va al día.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76272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0:30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17627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/candidatos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176272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Lead del portal. El contacto de ayer ya está anotado.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80944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98094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Matcher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80944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Semáforo por reglas: verde, amarillo, rojo, con el criterio.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785616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1:40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785616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Revisión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785616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Confirma el criterio contra el laboratorio y concilia medicamentos.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590288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2:20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59028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/rematch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4590288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Falló el estudio A. Estos otros protocolos todavía lo aceptan.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9496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3:00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949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Revisar diario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9496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Veeva o Clinical Ink. Aquí queda lo que el site revisó en la visita.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Crisvia — pitch de incubadora</dc:title>
  <dc:subject/>
  <dc:creator>Crisvia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