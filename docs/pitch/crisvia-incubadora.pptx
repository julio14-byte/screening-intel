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DD6FE"/>
                </a:solidFill>
                <a:latin typeface="Inter"/>
              </a:rPr>
              <a:t>INCUBADORA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Inter"/>
              </a:rPr>
              <a:t>Crisvia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DDD6FE"/>
                </a:solidFill>
                <a:latin typeface="Inter"/>
              </a:rPr>
              <a:t>Inteligencia de screening
para el clinical research site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977639"/>
            <a:ext cx="201168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914400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2E8F0"/>
                </a:solidFill>
                <a:latin typeface="Inter"/>
              </a:rPr>
              <a:t>El paciente ya llegó al centro.
Crisvia lo lleva al protocolo correcto y lo recupera si el primero no entra.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DD6FE"/>
                </a:solidFill>
                <a:latin typeface="Inter"/>
              </a:rPr>
              <a:t>Demo en vivo al cierre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Inter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1B4B"/>
                </a:solidFill>
                <a:latin typeface="Inter"/>
              </a:rPr>
              <a:t>El cuello de botella está en el site, antes de randomizar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Crisvia  ·  inteligencia de 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Incubadora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3566160" cy="448056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105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D28D9"/>
                </a:solidFill>
                <a:latin typeface="Inter"/>
              </a:rPr>
              <a:t>01  ·  A mano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67712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Inter"/>
              </a:rPr>
              <a:t>El coordinador cruza PDF, Excel y WhatsApp para decidir si alguien entra a un protocolo.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566160" cy="448056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8105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D28D9"/>
                </a:solidFill>
                <a:latin typeface="Inter"/>
              </a:rPr>
              <a:t>02  ·  Se pierde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267712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Inter"/>
              </a:rPr>
              <a:t>Un screen failure suele cerrar el caso. El mismo paciente podía caber en otro protocolo abierto del centro.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54480"/>
            <a:ext cx="3566160" cy="448056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18105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D28D9"/>
                </a:solidFill>
                <a:latin typeface="Inter"/>
              </a:rPr>
              <a:t>03  ·  Sin rastro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2267712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Inter"/>
              </a:rPr>
              <a:t>El patrocinador ya tiene su EDC y su diario. El site no tiene un lugar donde quede la decisión, con fuente y con fecha.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Inter"/>
              </a:rPr>
              <a:t>A QUIÉN LE DUELE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1B4B"/>
                </a:solidFill>
                <a:latin typeface="Inter"/>
              </a:rPr>
              <a:t>Quien opera el estudio en el centro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Crisvia  ·  inteligencia de 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Incubadora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3566160" cy="33832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105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D28D9"/>
                </a:solidFill>
                <a:latin typeface="Inter"/>
              </a:rPr>
              <a:t>Coordinador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67712"/>
            <a:ext cx="3108960" cy="2423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Inter"/>
              </a:rPr>
              <a:t>Arma el pre-screening a mano y persigue al candidato por teléfono.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566160" cy="33832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8105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D28D9"/>
                </a:solidFill>
                <a:latin typeface="Inter"/>
              </a:rPr>
              <a:t>Investigador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267712"/>
            <a:ext cx="3108960" cy="2423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Inter"/>
              </a:rPr>
              <a:t>Firma la elegibilidad y necesita saber de qué documento salió cada criterio.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54480"/>
            <a:ext cx="3566160" cy="33832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18105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D28D9"/>
                </a:solidFill>
                <a:latin typeface="Inter"/>
              </a:rPr>
              <a:t>Director del 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2267712"/>
            <a:ext cx="3108960" cy="2423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Inter"/>
              </a:rPr>
              <a:t>Ve el enrolamiento tarde, cuando la ventana del protocolo ya se cerró.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21208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34155"/>
                </a:solidFill>
                <a:latin typeface="Inter"/>
              </a:rPr>
              <a:t>El pagador es el clinical research site en México y LATAM. El patrocinador sigue dueño de Veeva, Clinical Ink y del IRT.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DD6FE"/>
                </a:solidFill>
                <a:latin typeface="Inter"/>
              </a:rPr>
              <a:t>LA TESIS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nter"/>
              </a:rPr>
              <a:t>Aprovechar a quien
ya llegó.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2E8F0"/>
                </a:solidFill>
                <a:latin typeface="Inter"/>
              </a:rPr>
              <a:t>Cada paciente del centro es una oportunidad de investigación.
Expediente, cruce por reglas, revisión con evidencia y recuperación tras el fallo.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DD6FE"/>
                </a:solidFill>
                <a:latin typeface="Inter"/>
              </a:rPr>
              <a:t>Trial de 14 días. El primer cruce corre el mismo día, con los pacientes que el centro ya tiene.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Inter"/>
              </a:rPr>
              <a:t>QUÉ OPERA CRISVIA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1B4B"/>
                </a:solidFill>
                <a:latin typeface="Inter"/>
              </a:rPr>
              <a:t>Del candidato a la visita, en seis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Crisvia  ·  inteligencia de 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Incubadora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5564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D28D9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1051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1B4B"/>
                </a:solidFill>
                <a:latin typeface="Inter"/>
              </a:rPr>
              <a:t>Llega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Portal del centro, Excel o alta manual.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5448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5564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D28D9"/>
                </a:solidFill>
                <a:latin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81051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1B4B"/>
                </a:solidFill>
                <a:latin typeface="Inter"/>
              </a:rPr>
              <a:t>Cruza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7744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Motor de reglas. Semáforo por criterio.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55448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75564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D28D9"/>
                </a:solidFill>
                <a:latin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81051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1B4B"/>
                </a:solidFill>
                <a:latin typeface="Inter"/>
              </a:rPr>
              <a:t>Revisa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37744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El equipo confirma cada criterio contra una fuente.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9592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D28D9"/>
                </a:solidFill>
                <a:latin typeface="Inter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05079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1B4B"/>
                </a:solidFill>
                <a:latin typeface="Inter"/>
              </a:rPr>
              <a:t>Sigue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61772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Kanban hasta randomizado o screen failure.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99592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D28D9"/>
                </a:solidFill>
                <a:latin typeface="Inter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05079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1B4B"/>
                </a:solidFill>
                <a:latin typeface="Inter"/>
              </a:rPr>
              <a:t>Recupera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61772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Re-Match propone otro protocolo abierto.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99592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D28D9"/>
                </a:solidFill>
                <a:latin typeface="Inter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405079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1B4B"/>
                </a:solidFill>
                <a:latin typeface="Inter"/>
              </a:rPr>
              <a:t>Visita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61772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Calendario del site y revisión del diario del patrocinador.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126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Inter"/>
              </a:rPr>
              <a:t>La elegibilidad la decide el investigador. La IA explica; no mueve el semáforo.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Inter"/>
              </a:rPr>
              <a:t>1  ·  LLEGA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1B4B"/>
                </a:solidFill>
                <a:latin typeface="Inter"/>
              </a:rPr>
              <a:t>Portal, inbox y expediente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Crisvia  ·  inteligencia de 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Incubadora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105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D28D9"/>
                </a:solidFill>
                <a:latin typeface="Inter"/>
              </a:rPr>
              <a:t>/candidato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67712"/>
            <a:ext cx="3108960" cy="3246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Inter"/>
              </a:rPr>
              <a:t>El paciente se pre-registra con el link del centro.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8105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D28D9"/>
                </a:solidFill>
                <a:latin typeface="Inter"/>
              </a:rPr>
              <a:t>/candidatos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267712"/>
            <a:ext cx="3108960" cy="3246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Inter"/>
              </a:rPr>
              <a:t>El coordinador convierte o archiva. Cada intento de contacto queda en bitácora. A las 48 h sin respuesta, el caso se marca.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5448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18105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D28D9"/>
                </a:solidFill>
                <a:latin typeface="Inter"/>
              </a:rPr>
              <a:t>/patients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2267712"/>
            <a:ext cx="3108960" cy="3246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Inter"/>
              </a:rPr>
              <a:t>Alta manual o pegar Excel. Perfil clínico: diagnósticos, medicamentos, laboratorios. El día 1 no hace falta integrar el hospital.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Inter"/>
              </a:rPr>
              <a:t>2  ·  CRUZA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1B4B"/>
                </a:solidFill>
                <a:latin typeface="Inter"/>
              </a:rPr>
              <a:t>Protocolo contra expediente, criterio por criterio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Crisvia  ·  inteligencia de 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Incubadora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5394960" cy="42976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105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D28D9"/>
                </a:solidFill>
                <a:latin typeface="Inter"/>
              </a:rPr>
              <a:t>/protocols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67712"/>
            <a:ext cx="4937760" cy="3337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Inter"/>
              </a:rPr>
              <a:t>Inclusión y exclusión. Los criterios se pueden extraer de un PDF del protocolo.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5532120" cy="42976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81051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D28D9"/>
                </a:solidFill>
                <a:latin typeface="Inter"/>
              </a:rPr>
              <a:t>/protocols/…/match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82512" y="2377440"/>
            <a:ext cx="146304" cy="6400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377440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1B4B"/>
                </a:solidFill>
                <a:latin typeface="Inter"/>
              </a:rPr>
              <a:t>Verde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688336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Inter"/>
              </a:rPr>
              <a:t>El expediente cumple.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82512" y="3383280"/>
            <a:ext cx="146304" cy="6400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383280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1B4B"/>
                </a:solidFill>
                <a:latin typeface="Inter"/>
              </a:rPr>
              <a:t>Amarillo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694176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Inter"/>
              </a:rPr>
              <a:t>Falta un dato.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82512" y="4389120"/>
            <a:ext cx="146304" cy="6400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389120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1B4B"/>
                </a:solidFill>
                <a:latin typeface="Inter"/>
              </a:rPr>
              <a:t>Rojo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700016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Inter"/>
              </a:rPr>
              <a:t>No cumple.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Inter"/>
              </a:rPr>
              <a:t>Score y detalle por criterio. La justificación en español describe ese resultado.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Inter"/>
              </a:rPr>
              <a:t>3  ·  REVISA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1B4B"/>
                </a:solidFill>
                <a:latin typeface="Inter"/>
              </a:rPr>
              <a:t>Evidencia antes de que el investigador decida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Crisvia  ·  inteligencia de 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Incubadora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D28D9"/>
                </a:solidFill>
                <a:latin typeface="Inter"/>
              </a:rPr>
              <a:t>/protocols/…/revision/…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532120" cy="18288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221991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1B4B"/>
                </a:solidFill>
                <a:latin typeface="Inter"/>
              </a:rPr>
              <a:t>Fuente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74320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Tipo de documento, referencia, fecha del dato y valor leído.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965960"/>
            <a:ext cx="5532120" cy="18288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221991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1B4B"/>
                </a:solidFill>
                <a:latin typeface="Inter"/>
              </a:rPr>
              <a:t>Decisión firme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743200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Sin fuente no se guarda. El revisor y su rol los fija la base.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77639"/>
            <a:ext cx="5532120" cy="18288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23367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1B4B"/>
                </a:solidFill>
                <a:latin typeface="Inter"/>
              </a:rPr>
              <a:t>Medicamentos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754879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Vigentes, lavado del protocolo y los que nadie verifica hace más de 30 días.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977639"/>
            <a:ext cx="5532120" cy="18288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23367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1B4B"/>
                </a:solidFill>
                <a:latin typeface="Inter"/>
              </a:rPr>
              <a:t>Bitácora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4754879"/>
            <a:ext cx="50292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De solo agregar. Una corrección es un registro nuevo.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Inter"/>
              </a:rPr>
              <a:t>4  ·  SIGUE Y RECUPERA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1B4B"/>
                </a:solidFill>
                <a:latin typeface="Inter"/>
              </a:rPr>
              <a:t>El screen failure es una fuga, no el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Crisvia  ·  inteligencia de 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Incubadora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11155680" cy="1024128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D28D9"/>
                </a:solidFill>
                <a:latin typeface="Inter"/>
              </a:rPr>
              <a:t>/tracker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627632"/>
            <a:ext cx="813816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Pre-screening, screening, randomizado, screen failure. Randomizado se marca cuando el IRT del patrocinador ya asignó.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40"/>
            <a:ext cx="11155680" cy="1024128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70632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D28D9"/>
                </a:solidFill>
                <a:latin typeface="Inter"/>
              </a:rPr>
              <a:t>/dashboard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770632"/>
            <a:ext cx="813816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Embudo del site y meta de enrolamiento: al día, en riesgo o atrasada.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49039"/>
            <a:ext cx="11155680" cy="1024128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13631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D28D9"/>
                </a:solidFill>
                <a:latin typeface="Inter"/>
              </a:rPr>
              <a:t>/rematch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913631"/>
            <a:ext cx="813816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Si falló un estudio, lista protocolos activos donde ese paciente no está excluido.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892040"/>
            <a:ext cx="11155680" cy="1024128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056631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D28D9"/>
                </a:solidFill>
                <a:latin typeface="Inter"/>
              </a:rPr>
              <a:t>/bitacora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056631"/>
            <a:ext cx="813816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La bitácora de screening se exporta.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Inter"/>
              </a:rPr>
              <a:t>5  ·  LA VISITA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1B4B"/>
                </a:solidFill>
                <a:latin typeface="Inter"/>
              </a:rPr>
              <a:t>El diario sigue en Veeva o en Clinical 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Crisvia  ·  inteligencia de 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Incubadora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Inter"/>
              </a:rPr>
              <a:t>En la visita ya realizada, el coordinador anota lo que vio con el paciente. Crisvia guarda la revisión del 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94560"/>
            <a:ext cx="5532120" cy="17830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423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1B4B"/>
                </a:solidFill>
                <a:latin typeface="Inter"/>
              </a:rPr>
              <a:t>Sistema y referencia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92608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Veeva, Clinical Ink, otro diario o papel, con sujeto, periodo o folio.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2194560"/>
            <a:ext cx="5532120" cy="17830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23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1B4B"/>
                </a:solidFill>
                <a:latin typeface="Inter"/>
              </a:rPr>
              <a:t>Cumplimiento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2608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Periodo, días esperados y completados, dosis omitidas.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60520"/>
            <a:ext cx="5532120" cy="17830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389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1B4B"/>
                </a:solidFill>
                <a:latin typeface="Inter"/>
              </a:rPr>
              <a:t>Hallazgos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89204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Posible evento adverso y medicación nueva, cada uno con descripción.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4160520"/>
            <a:ext cx="5532120" cy="17830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389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1B4B"/>
                </a:solidFill>
                <a:latin typeface="Inter"/>
              </a:rPr>
              <a:t>Señales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489204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Bajo 80 %, dosis omitidas, evento que la visita no registró, o medicación nueva.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Inter"/>
              </a:rPr>
              <a:t>CONFIANZA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1B4B"/>
                </a:solidFill>
                <a:latin typeface="Inter"/>
              </a:rPr>
              <a:t>Cada centro ve solo lo suyo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Crisvia  ·  inteligencia de 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Incubadora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109728" cy="8686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1B4B"/>
                </a:solidFill>
                <a:latin typeface="Inter"/>
              </a:rPr>
              <a:t>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Investigador, sub-investigador, coordinador. El monitor lee.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60320"/>
            <a:ext cx="109728" cy="8686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603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1B4B"/>
                </a:solidFill>
                <a:latin typeface="Inter"/>
              </a:rPr>
              <a:t>Acceso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26079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MFA para el equipo clínico y sesión con vencimiento.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57600"/>
            <a:ext cx="109728" cy="8686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576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1B4B"/>
                </a:solidFill>
                <a:latin typeface="Inter"/>
              </a:rPr>
              <a:t>Rastro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23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Bitácora de cambios. Equipo y delegación del protocolo, con vigencia.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754879"/>
            <a:ext cx="109728" cy="8686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54879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1B4B"/>
                </a:solidFill>
                <a:latin typeface="Inter"/>
              </a:rPr>
              <a:t>Aislamiento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120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Cada organización ve solo sus datos, en Postgres.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Inter"/>
              </a:rPr>
              <a:t>La certificación del diario y del EDC sigue en el sistema del patrocinador.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Inter"/>
              </a:rPr>
              <a:t>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1B4B"/>
                </a:solidFill>
                <a:latin typeface="Inter"/>
              </a:rPr>
              <a:t>SaaS por site, en dólares, sin implementación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Crisvia  ·  inteligencia de 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Incubadora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1B4B"/>
                </a:solidFill>
                <a:latin typeface="Inter"/>
              </a:rP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6D28D9"/>
                </a:solidFill>
                <a:latin typeface="Inter"/>
              </a:rPr>
              <a:t>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17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Inter"/>
              </a:rPr>
              <a:t>14 días para probar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49039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Inter"/>
              </a:rPr>
              <a:t>Hasta 50 pacientes, 3 protocolos, 1 usuario.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5448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860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Inter"/>
              </a:rPr>
              <a:t>$149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017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DE9FE"/>
                </a:solidFill>
                <a:latin typeface="Inter"/>
              </a:rPr>
              <a:t>al mes, por 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749039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DE9FE"/>
                </a:solidFill>
                <a:latin typeface="Inter"/>
              </a:rPr>
              <a:t>500 pacientes, 3 usuarios, Re-Match y portal.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55448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1B4B"/>
                </a:solidFill>
                <a:latin typeface="Inter"/>
              </a:rPr>
              <a:t>Pro+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2860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6D28D9"/>
                </a:solidFill>
                <a:latin typeface="Inter"/>
              </a:rPr>
              <a:t>$329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017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4155"/>
                </a:solidFill>
                <a:latin typeface="Inter"/>
              </a:rPr>
              <a:t>al mes, por site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749039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Inter"/>
              </a:rPr>
              <a:t>2,000 pacientes, 10 usuarios, roles, MFA y bitácora.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03504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Inter"/>
              </a:rPr>
              <a:t>Precio por sitio. Se cancela cuando el centro quiere. Cobro con Stripe.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Inter"/>
              </a:rPr>
              <a:t>LO QUE YA ESTÁ CONSTRUIDO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1B4B"/>
                </a:solidFill>
                <a:latin typeface="Inter"/>
              </a:rPr>
              <a:t>Producto operable. Tracción por demostrar.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Crisvia  ·  inteligencia de 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Incubadora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1051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D28D9"/>
                </a:solidFill>
                <a:latin typeface="Inter"/>
              </a:rPr>
              <a:t>Se puede recorrer hoy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67712"/>
            <a:ext cx="5074920" cy="3246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Inter"/>
              </a:rPr>
              <a:t>Portal, expediente, matcher, revisión con evidencia, tracker, Re-Match, visitas y revisión de diario en Veeva o Clinical Ink.
La base aísla centros y roles. Hay pruebas de ese aislamiento sobre Postgres.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8105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D28D9"/>
                </a:solidFill>
                <a:latin typeface="Inter"/>
              </a:rPr>
              <a:t>Abierto con esta sala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267712"/>
            <a:ext cx="4937760" cy="3246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Inter"/>
              </a:rPr>
              <a:t>Los primeros sites de diseño, el ciclo de venta al centro y el número de pacientes cruzados en producción.
Esas cifras se dicen cuando existan.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Inter"/>
              </a:rPr>
              <a:t>EL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1B4B"/>
                </a:solidFill>
                <a:latin typeface="Inter"/>
              </a:rPr>
              <a:t>México ya corre estudios. El software del site va atrás.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Crisvia  ·  inteligencia de 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Incubadora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5532120" cy="420624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D28D9"/>
                </a:solidFill>
                <a:latin typeface="Inter"/>
              </a:rPr>
              <a:t>Estudios documentados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1E1B4B"/>
                </a:solidFill>
                <a:latin typeface="Inter"/>
              </a:rPr>
              <a:t>~5,000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493776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Inter"/>
              </a:rPr>
              <a:t>en México, abril de 2024.
Más de 5,200 registrados hacia febrero de 2025, incluidos estudios ya cerrados.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828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D28D9"/>
                </a:solidFill>
                <a:latin typeface="Inter"/>
              </a:rPr>
              <a:t>El hueco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68880"/>
            <a:ext cx="4846320" cy="2560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Inter"/>
              </a:rPr>
              <a:t>El patrocinador estandarizó EDC y diario.
El coordinador del site sigue en hojas de cálculo.
Crisvia entra ahí: un centro, muchos protocolos, los pacientes que ya atiende.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94360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Inter"/>
              </a:rPr>
              <a:t>Fuentes: UNAM / CIC, 2025; Statista, febrero 2025.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Inter"/>
              </a:rPr>
              <a:t>PEDIDO A LA INCUBADORA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1B4B"/>
                </a:solidFill>
                <a:latin typeface="Inter"/>
              </a:rPr>
              <a:t>Tres cosas, en este orden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Crisvia  ·  inteligencia de 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Incubadora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11155680" cy="1389888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D28D9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70992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E1B4B"/>
                </a:solidFill>
                <a:latin typeface="Inter"/>
              </a:rPr>
              <a:t>Tres sites piloto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6712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En México, para correr el trial de 14 días con un protocolo real y medir screen failures recuperados.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63239"/>
            <a:ext cx="11155680" cy="1389888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2899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D28D9"/>
                </a:solidFill>
                <a:latin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6440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E1B4B"/>
                </a:solidFill>
                <a:latin typeface="Inter"/>
              </a:rPr>
              <a:t>Mentoría comercial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21607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Para venderle al director del site, no al patrocinador.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617720"/>
            <a:ext cx="11155680" cy="1389888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D28D9"/>
                </a:solidFill>
                <a:latin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81888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E1B4B"/>
                </a:solidFill>
                <a:latin typeface="Inter"/>
              </a:rPr>
              <a:t>Lectura regulatoria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27608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De una persona que ya operó un centro: qué documento exige el monitor y cuál se queda en Veeva.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Inter"/>
              </a:rPr>
              <a:t>FUNCIONAMIENTO  ·  4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1B4B"/>
                </a:solidFill>
                <a:latin typeface="Inter"/>
              </a:rPr>
              <a:t>Recorrido en vivo, con la app abierta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Crisvia  ·  inteligencia de 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5105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Inter"/>
              </a:rPr>
              <a:t>Incubadora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D28D9"/>
                </a:solidFill>
                <a:latin typeface="Inter"/>
              </a:rPr>
              <a:t>0:00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3716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1B4B"/>
                </a:solidFill>
                <a:latin typeface="Inter"/>
              </a:rPr>
              <a:t>/dashboard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37160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Embudo y si la meta de enrolamiento va al día.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76272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D28D9"/>
                </a:solidFill>
                <a:latin typeface="Inter"/>
              </a:rPr>
              <a:t>0:30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176272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1B4B"/>
                </a:solidFill>
                <a:latin typeface="Inter"/>
              </a:rPr>
              <a:t>/candidatos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76272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Lead del portal. El contacto de ayer ya está anotado.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80944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D28D9"/>
                </a:solidFill>
                <a:latin typeface="Inter"/>
              </a:rPr>
              <a:t>1:00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980944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1B4B"/>
                </a:solidFill>
                <a:latin typeface="Inter"/>
              </a:rPr>
              <a:t>Matcher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980944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Semáforo por reglas: verde, amarillo, rojo, con el criterio.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785616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D28D9"/>
                </a:solidFill>
                <a:latin typeface="Inter"/>
              </a:rPr>
              <a:t>1:40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785616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1B4B"/>
                </a:solidFill>
                <a:latin typeface="Inter"/>
              </a:rPr>
              <a:t>Revisión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785616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Confirma el criterio contra el laboratorio y concilia medicamentos.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90288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D28D9"/>
                </a:solidFill>
                <a:latin typeface="Inter"/>
              </a:rPr>
              <a:t>2:20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590288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1B4B"/>
                </a:solidFill>
                <a:latin typeface="Inter"/>
              </a:rPr>
              <a:t>/rematch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590288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Falló el estudio A. Estos otros protocolos todavía lo aceptan.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9496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D28D9"/>
                </a:solidFill>
                <a:latin typeface="Inter"/>
              </a:rPr>
              <a:t>3:00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39496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1B4B"/>
                </a:solidFill>
                <a:latin typeface="Inter"/>
              </a:rPr>
              <a:t>Revisar diario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539496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Inter"/>
              </a:rPr>
              <a:t>Veeva o Clinical Ink. Aquí queda lo que el site revisó en la visita.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Crisvia — pitch de incubadora</dc:title>
  <dc:subject/>
  <dc:creator>Crisvia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